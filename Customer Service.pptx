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v" ContentType="video/x-ms-wm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49" r:id="rId1"/>
  </p:sldMasterIdLst>
  <p:sldIdLst>
    <p:sldId id="256" r:id="rId2"/>
    <p:sldId id="258" r:id="rId3"/>
    <p:sldId id="270" r:id="rId4"/>
    <p:sldId id="269" r:id="rId5"/>
    <p:sldId id="264" r:id="rId6"/>
    <p:sldId id="263" r:id="rId7"/>
    <p:sldId id="261" r:id="rId8"/>
    <p:sldId id="262"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CCD2"/>
    <a:srgbClr val="F7EDEF"/>
    <a:srgbClr val="F0DCE0"/>
    <a:srgbClr val="EEFCE4"/>
    <a:srgbClr val="A2BD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930950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83035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02812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3208258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3812733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423086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0032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72423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3885810" y="6041362"/>
            <a:ext cx="976879" cy="365125"/>
          </a:xfrm>
        </p:spPr>
        <p:txBody>
          <a:bodyPr/>
          <a:lstStyle/>
          <a:p>
            <a:fld id="{A007F11C-E354-4304-A046-9C990A704FD7}" type="datetimeFigureOut">
              <a:rPr lang="he-IL" smtClean="0"/>
              <a:t>כ"ט/חשון/תשפ"ו</a:t>
            </a:fld>
            <a:endParaRPr lang="he-IL"/>
          </a:p>
        </p:txBody>
      </p:sp>
      <p:sp>
        <p:nvSpPr>
          <p:cNvPr id="6" name="Footer Placeholder 5"/>
          <p:cNvSpPr>
            <a:spLocks noGrp="1"/>
          </p:cNvSpPr>
          <p:nvPr>
            <p:ph type="ftr" sz="quarter" idx="11"/>
          </p:nvPr>
        </p:nvSpPr>
        <p:spPr>
          <a:xfrm>
            <a:off x="590396" y="6041362"/>
            <a:ext cx="3295413" cy="365125"/>
          </a:xfrm>
        </p:spPr>
        <p:txBody>
          <a:bodyPr/>
          <a:lstStyle/>
          <a:p>
            <a:endParaRPr lang="he-IL"/>
          </a:p>
        </p:txBody>
      </p:sp>
      <p:sp>
        <p:nvSpPr>
          <p:cNvPr id="7" name="Slide Number Placeholder 6"/>
          <p:cNvSpPr>
            <a:spLocks noGrp="1"/>
          </p:cNvSpPr>
          <p:nvPr>
            <p:ph type="sldNum" sz="quarter" idx="12"/>
          </p:nvPr>
        </p:nvSpPr>
        <p:spPr>
          <a:xfrm>
            <a:off x="4862689" y="5915888"/>
            <a:ext cx="1062155" cy="490599"/>
          </a:xfrm>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697686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3198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538395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he-IL"/>
              <a:t>לחץ כדי לערוך סגנון כותרת של תבנית בסיס</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he-IL"/>
              <a:t>לחץ כדי לערוך סגנונות טקסט של תבנית בסיס</a:t>
            </a:r>
          </a:p>
        </p:txBody>
      </p:sp>
      <p:sp>
        <p:nvSpPr>
          <p:cNvPr id="2" name="Date Placeholder 1"/>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2288706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3385000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A007F11C-E354-4304-A046-9C990A704FD7}" type="datetimeFigureOut">
              <a:rPr lang="he-IL" smtClean="0"/>
              <a:t>כ"ט/חשון/תשפ"ו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1C31E6-5651-41C9-8F68-31A28624D57A}" type="slidenum">
              <a:rPr lang="he-IL" smtClean="0"/>
              <a:t>‹#›</a:t>
            </a:fld>
            <a:endParaRPr lang="he-IL"/>
          </a:p>
        </p:txBody>
      </p:sp>
    </p:spTree>
    <p:extLst>
      <p:ext uri="{BB962C8B-B14F-4D97-AF65-F5344CB8AC3E}">
        <p14:creationId xmlns:p14="http://schemas.microsoft.com/office/powerpoint/2010/main" val="1400443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he-IL"/>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A007F11C-E354-4304-A046-9C990A704FD7}" type="datetimeFigureOut">
              <a:rPr lang="he-IL" smtClean="0"/>
              <a:t>כ"ט/חשון/תשפ"ו</a:t>
            </a:fld>
            <a:endParaRPr lang="he-IL"/>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1D1C31E6-5651-41C9-8F68-31A28624D57A}" type="slidenum">
              <a:rPr lang="he-IL" smtClean="0"/>
              <a:t>‹#›</a:t>
            </a:fld>
            <a:endParaRPr lang="he-IL"/>
          </a:p>
        </p:txBody>
      </p:sp>
    </p:spTree>
    <p:extLst>
      <p:ext uri="{BB962C8B-B14F-4D97-AF65-F5344CB8AC3E}">
        <p14:creationId xmlns:p14="http://schemas.microsoft.com/office/powerpoint/2010/main" val="3599872557"/>
      </p:ext>
    </p:extLst>
  </p:cSld>
  <p:clrMap bg1="dk1" tx1="lt1" bg2="dk2" tx2="lt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Lst>
  <p:txStyles>
    <p:titleStyle>
      <a:lvl1pPr algn="l" defTabSz="457200" rtl="1" eaLnBrk="1" latinLnBrk="0" hangingPunct="1">
        <a:spcBef>
          <a:spcPct val="0"/>
        </a:spcBef>
        <a:buNone/>
        <a:defRPr sz="4000" b="1" kern="1200">
          <a:solidFill>
            <a:srgbClr val="FEFEFE"/>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r" defTabSz="457200" rtl="1"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r" defTabSz="457200" rtl="1"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r" defTabSz="457200" rtl="1"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media" Target="../media/media1.wmv"/><Relationship Id="rId1" Type="http://schemas.openxmlformats.org/officeDocument/2006/relationships/video" Target="NULL" TargetMode="Externa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CC5803F8-634D-4A85-A515-239463BD3E6E}"/>
              </a:ext>
            </a:extLst>
          </p:cNvPr>
          <p:cNvSpPr txBox="1"/>
          <p:nvPr/>
        </p:nvSpPr>
        <p:spPr>
          <a:xfrm>
            <a:off x="2876551" y="3552326"/>
            <a:ext cx="6659033" cy="1015663"/>
          </a:xfrm>
          <a:prstGeom prst="rect">
            <a:avLst/>
          </a:prstGeom>
          <a:noFill/>
        </p:spPr>
        <p:txBody>
          <a:bodyPr wrap="square" rtlCol="1">
            <a:spAutoFit/>
          </a:bodyPr>
          <a:lstStyle/>
          <a:p>
            <a:r>
              <a:rPr lang="en-US" sz="6000" dirty="0">
                <a:solidFill>
                  <a:schemeClr val="bg1"/>
                </a:solidFill>
              </a:rPr>
              <a:t>Customer Service</a:t>
            </a:r>
            <a:endParaRPr lang="he-IL" sz="6000" dirty="0">
              <a:solidFill>
                <a:schemeClr val="bg1"/>
              </a:solidFill>
            </a:endParaRPr>
          </a:p>
        </p:txBody>
      </p:sp>
      <p:sp>
        <p:nvSpPr>
          <p:cNvPr id="5" name="תיבת טקסט 4">
            <a:extLst>
              <a:ext uri="{FF2B5EF4-FFF2-40B4-BE49-F238E27FC236}">
                <a16:creationId xmlns:a16="http://schemas.microsoft.com/office/drawing/2014/main" id="{4CB3438C-5923-4D82-93F0-F1FF17769E24}"/>
              </a:ext>
            </a:extLst>
          </p:cNvPr>
          <p:cNvSpPr txBox="1"/>
          <p:nvPr/>
        </p:nvSpPr>
        <p:spPr>
          <a:xfrm>
            <a:off x="1040343" y="5850636"/>
            <a:ext cx="2813049" cy="400110"/>
          </a:xfrm>
          <a:prstGeom prst="rect">
            <a:avLst/>
          </a:prstGeom>
          <a:noFill/>
        </p:spPr>
        <p:txBody>
          <a:bodyPr wrap="square" rtlCol="1">
            <a:spAutoFit/>
          </a:bodyPr>
          <a:lstStyle/>
          <a:p>
            <a:r>
              <a:rPr lang="he-IL" sz="2000" dirty="0">
                <a:solidFill>
                  <a:schemeClr val="bg1"/>
                </a:solidFill>
              </a:rPr>
              <a:t>רוחמה אמור ומלכי סלומון</a:t>
            </a:r>
          </a:p>
        </p:txBody>
      </p:sp>
      <p:pic>
        <p:nvPicPr>
          <p:cNvPr id="3" name="תמונה 2">
            <a:extLst>
              <a:ext uri="{FF2B5EF4-FFF2-40B4-BE49-F238E27FC236}">
                <a16:creationId xmlns:a16="http://schemas.microsoft.com/office/drawing/2014/main" id="{3247518A-AFB9-40B4-B115-020B99A887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2141" y="1484542"/>
            <a:ext cx="1907718" cy="1872714"/>
          </a:xfrm>
          <a:prstGeom prst="rect">
            <a:avLst/>
          </a:prstGeom>
        </p:spPr>
      </p:pic>
    </p:spTree>
    <p:extLst>
      <p:ext uri="{BB962C8B-B14F-4D97-AF65-F5344CB8AC3E}">
        <p14:creationId xmlns:p14="http://schemas.microsoft.com/office/powerpoint/2010/main" val="1120361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מציין מיקום של תמונה 9">
            <a:extLst>
              <a:ext uri="{FF2B5EF4-FFF2-40B4-BE49-F238E27FC236}">
                <a16:creationId xmlns:a16="http://schemas.microsoft.com/office/drawing/2014/main" id="{F96C0916-C9DF-45E3-91D8-62816EDED7A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431" r="21431"/>
          <a:stretch>
            <a:fillRect/>
          </a:stretch>
        </p:blipFill>
        <p:spPr>
          <a:xfrm>
            <a:off x="6096000" y="0"/>
            <a:ext cx="6093883" cy="6858000"/>
          </a:xfrm>
        </p:spPr>
      </p:pic>
      <p:sp>
        <p:nvSpPr>
          <p:cNvPr id="13" name="תיבת טקסט 12">
            <a:extLst>
              <a:ext uri="{FF2B5EF4-FFF2-40B4-BE49-F238E27FC236}">
                <a16:creationId xmlns:a16="http://schemas.microsoft.com/office/drawing/2014/main" id="{E18FC867-5FAE-43C7-883D-A32537C08FC5}"/>
              </a:ext>
            </a:extLst>
          </p:cNvPr>
          <p:cNvSpPr txBox="1"/>
          <p:nvPr/>
        </p:nvSpPr>
        <p:spPr>
          <a:xfrm>
            <a:off x="705853" y="1074510"/>
            <a:ext cx="4961633" cy="4708981"/>
          </a:xfrm>
          <a:prstGeom prst="rect">
            <a:avLst/>
          </a:prstGeom>
          <a:noFill/>
        </p:spPr>
        <p:txBody>
          <a:bodyPr wrap="square" rtlCol="1">
            <a:spAutoFit/>
          </a:bodyPr>
          <a:lstStyle/>
          <a:p>
            <a:pPr algn="ctr"/>
            <a:r>
              <a:rPr lang="he-IL" sz="2000" b="1" dirty="0">
                <a:solidFill>
                  <a:schemeClr val="bg1"/>
                </a:solidFill>
              </a:rPr>
              <a:t>מטרת פיתוח הפרויקט</a:t>
            </a:r>
          </a:p>
          <a:p>
            <a:pPr algn="ctr"/>
            <a:endParaRPr lang="he-IL" sz="2000" b="1" dirty="0">
              <a:solidFill>
                <a:schemeClr val="bg1"/>
              </a:solidFill>
            </a:endParaRPr>
          </a:p>
          <a:p>
            <a:pPr algn="ctr"/>
            <a:r>
              <a:rPr lang="he-IL" sz="2000" dirty="0">
                <a:solidFill>
                  <a:schemeClr val="bg1"/>
                </a:solidFill>
              </a:rPr>
              <a:t>צ'אט שירות הלקוחות פותח מתוך רצון ליעל ולשפר את חוויות השירות של המשתמשים,</a:t>
            </a:r>
          </a:p>
          <a:p>
            <a:pPr algn="ctr"/>
            <a:r>
              <a:rPr lang="he-IL" sz="2000" dirty="0">
                <a:solidFill>
                  <a:schemeClr val="bg1"/>
                </a:solidFill>
              </a:rPr>
              <a:t>לתת דגש על נוחות ומהירות של שירות יחד עם צמצום וייעול בעבודת הפקידים, תוך מתן אפשרות מעקב ובקרת איכות השיחות ע"י מנהל בצורה נוחה וידידותית.</a:t>
            </a:r>
          </a:p>
          <a:p>
            <a:pPr algn="ctr"/>
            <a:endParaRPr lang="he-IL" sz="2000" dirty="0">
              <a:solidFill>
                <a:schemeClr val="bg1"/>
              </a:solidFill>
            </a:endParaRPr>
          </a:p>
          <a:p>
            <a:pPr algn="ctr"/>
            <a:r>
              <a:rPr lang="he-IL" sz="2000" dirty="0">
                <a:solidFill>
                  <a:schemeClr val="bg1"/>
                </a:solidFill>
              </a:rPr>
              <a:t>הצ'אט מקדם את השירות הטלפוני הקים והמוכר, לצ'אט מתקדם המשתמש בכלים טכנולוגים חדשנים כחלק מהמגמה העולמית ההולכת ומתפתחת לעולם טכנולוגי שעומד בפתחינו, הצועד לנוחות ומהירות בחיי היומיום, ומאפשר חווית שירות פשוטה, קלה ומהירה.</a:t>
            </a:r>
          </a:p>
        </p:txBody>
      </p:sp>
    </p:spTree>
    <p:extLst>
      <p:ext uri="{BB962C8B-B14F-4D97-AF65-F5344CB8AC3E}">
        <p14:creationId xmlns:p14="http://schemas.microsoft.com/office/powerpoint/2010/main" val="122354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B899B97D-F6CB-492B-A71E-210347404AC6}"/>
              </a:ext>
            </a:extLst>
          </p:cNvPr>
          <p:cNvSpPr txBox="1"/>
          <p:nvPr/>
        </p:nvSpPr>
        <p:spPr>
          <a:xfrm>
            <a:off x="1564107" y="1361872"/>
            <a:ext cx="5092489" cy="2431435"/>
          </a:xfrm>
          <a:prstGeom prst="rect">
            <a:avLst/>
          </a:prstGeom>
          <a:noFill/>
          <a:ln>
            <a:solidFill>
              <a:srgbClr val="EACCD2"/>
            </a:solidFill>
          </a:ln>
          <a:effectLst>
            <a:softEdge rad="31750"/>
          </a:effectLst>
        </p:spPr>
        <p:txBody>
          <a:bodyPr wrap="square" rtlCol="1">
            <a:spAutoFit/>
          </a:bodyPr>
          <a:lstStyle/>
          <a:p>
            <a:pPr algn="ctr"/>
            <a:r>
              <a:rPr lang="he-IL" sz="2000" dirty="0">
                <a:solidFill>
                  <a:schemeClr val="bg1"/>
                </a:solidFill>
              </a:rPr>
              <a:t>טכנולוגיות:</a:t>
            </a:r>
          </a:p>
          <a:p>
            <a:pPr algn="ctr"/>
            <a:endParaRPr lang="he-IL" sz="2000" dirty="0">
              <a:solidFill>
                <a:schemeClr val="bg1"/>
              </a:solidFill>
            </a:endParaRPr>
          </a:p>
          <a:p>
            <a:pPr marL="0" algn="r" rtl="1" eaLnBrk="1" fontAlgn="ctr" latinLnBrk="0" hangingPunct="1">
              <a:spcBef>
                <a:spcPts val="0"/>
              </a:spcBef>
              <a:spcAft>
                <a:spcPts val="0"/>
              </a:spcAft>
            </a:pPr>
            <a:r>
              <a:rPr lang="en-US" sz="2800" b="0" i="0" u="none" strike="noStrike" kern="1200" dirty="0">
                <a:solidFill>
                  <a:srgbClr val="000000"/>
                </a:solidFill>
                <a:effectLst/>
                <a:latin typeface="Segoe UI Light" panose="020B0502040204020203" pitchFamily="34" charset="0"/>
                <a:cs typeface="Segoe UI Light" panose="020B0502040204020203" pitchFamily="34" charset="0"/>
              </a:rPr>
              <a:t>Node.js</a:t>
            </a:r>
            <a:endParaRPr lang="he-IL" sz="2800" b="0" i="0" u="none" strike="noStrike" dirty="0">
              <a:effectLst/>
              <a:latin typeface="Arial" panose="020B0604020202020204" pitchFamily="34" charset="0"/>
            </a:endParaRPr>
          </a:p>
          <a:p>
            <a:pPr marL="0" algn="r" rtl="1" eaLnBrk="1" fontAlgn="ctr" latinLnBrk="0" hangingPunct="1">
              <a:spcBef>
                <a:spcPts val="0"/>
              </a:spcBef>
              <a:spcAft>
                <a:spcPts val="0"/>
              </a:spcAft>
            </a:pPr>
            <a:r>
              <a:rPr lang="en-US" sz="2800" b="0" i="0" u="none" strike="noStrike" kern="1200" dirty="0">
                <a:solidFill>
                  <a:srgbClr val="000000"/>
                </a:solidFill>
                <a:effectLst/>
                <a:latin typeface="Segoe UI Light" panose="020B0502040204020203" pitchFamily="34" charset="0"/>
                <a:cs typeface="Segoe UI Light" panose="020B0502040204020203" pitchFamily="34" charset="0"/>
              </a:rPr>
              <a:t>HTML, CSS, JavaScript</a:t>
            </a:r>
            <a:endParaRPr lang="he-IL" sz="2800" b="0" i="0" u="none" strike="noStrike" dirty="0">
              <a:effectLst/>
              <a:latin typeface="Arial" panose="020B0604020202020204" pitchFamily="34" charset="0"/>
            </a:endParaRPr>
          </a:p>
          <a:p>
            <a:pPr marL="0" algn="r" rtl="1" eaLnBrk="1" fontAlgn="ctr" latinLnBrk="0" hangingPunct="1">
              <a:spcBef>
                <a:spcPts val="0"/>
              </a:spcBef>
              <a:spcAft>
                <a:spcPts val="0"/>
              </a:spcAft>
            </a:pPr>
            <a:r>
              <a:rPr lang="en-US" sz="2800" b="0" i="0" u="none" strike="noStrike" kern="1200" dirty="0">
                <a:solidFill>
                  <a:srgbClr val="000000"/>
                </a:solidFill>
                <a:effectLst/>
                <a:latin typeface="Segoe UI Light" panose="020B0502040204020203" pitchFamily="34" charset="0"/>
                <a:cs typeface="Segoe UI Light" panose="020B0502040204020203" pitchFamily="34" charset="0"/>
              </a:rPr>
              <a:t>MongoDB</a:t>
            </a:r>
          </a:p>
          <a:p>
            <a:pPr marL="0" algn="r" rtl="1" eaLnBrk="1" fontAlgn="ctr" latinLnBrk="0" hangingPunct="1">
              <a:spcBef>
                <a:spcPts val="0"/>
              </a:spcBef>
              <a:spcAft>
                <a:spcPts val="0"/>
              </a:spcAft>
            </a:pPr>
            <a:r>
              <a:rPr lang="en-US" sz="2800" dirty="0">
                <a:solidFill>
                  <a:srgbClr val="000000"/>
                </a:solidFill>
                <a:latin typeface="Segoe UI Light" panose="020B0502040204020203" pitchFamily="34" charset="0"/>
                <a:cs typeface="Segoe UI Light" panose="020B0502040204020203" pitchFamily="34" charset="0"/>
              </a:rPr>
              <a:t>Web Socket</a:t>
            </a:r>
            <a:endParaRPr lang="he-IL" sz="2800" b="0" i="0" u="none" strike="noStrike" dirty="0">
              <a:effectLst/>
              <a:latin typeface="Arial" panose="020B0604020202020204" pitchFamily="34" charset="0"/>
            </a:endParaRPr>
          </a:p>
        </p:txBody>
      </p:sp>
      <p:sp>
        <p:nvSpPr>
          <p:cNvPr id="7" name="בועת דיבור: מלבן 6">
            <a:extLst>
              <a:ext uri="{FF2B5EF4-FFF2-40B4-BE49-F238E27FC236}">
                <a16:creationId xmlns:a16="http://schemas.microsoft.com/office/drawing/2014/main" id="{8555DF22-320E-4BA6-92C9-0A2FA17B37B8}"/>
              </a:ext>
            </a:extLst>
          </p:cNvPr>
          <p:cNvSpPr/>
          <p:nvPr/>
        </p:nvSpPr>
        <p:spPr>
          <a:xfrm flipH="1">
            <a:off x="7218947" y="1090863"/>
            <a:ext cx="4459706" cy="4267200"/>
          </a:xfrm>
          <a:prstGeom prst="wedgeRectCallout">
            <a:avLst/>
          </a:prstGeom>
          <a:solidFill>
            <a:srgbClr val="F7E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736D86DE-B763-48B2-9080-DAB46466BDD2}"/>
              </a:ext>
            </a:extLst>
          </p:cNvPr>
          <p:cNvSpPr txBox="1"/>
          <p:nvPr/>
        </p:nvSpPr>
        <p:spPr>
          <a:xfrm>
            <a:off x="7988967" y="1913972"/>
            <a:ext cx="3199521" cy="2308324"/>
          </a:xfrm>
          <a:prstGeom prst="rect">
            <a:avLst/>
          </a:prstGeom>
          <a:noFill/>
          <a:ln>
            <a:solidFill>
              <a:srgbClr val="EACCD2"/>
            </a:solidFill>
          </a:ln>
          <a:effectLst>
            <a:softEdge rad="31750"/>
          </a:effectLst>
        </p:spPr>
        <p:txBody>
          <a:bodyPr wrap="square" rtlCol="1">
            <a:spAutoFit/>
          </a:bodyPr>
          <a:lstStyle/>
          <a:p>
            <a:pPr algn="ctr"/>
            <a:r>
              <a:rPr lang="en-US" sz="2400" b="1" dirty="0">
                <a:solidFill>
                  <a:schemeClr val="bg1"/>
                </a:solidFill>
                <a:latin typeface="Segoe UI Light" panose="020B0502040204020203" pitchFamily="34" charset="0"/>
                <a:cs typeface="Segoe UI Light" panose="020B0502040204020203" pitchFamily="34" charset="0"/>
              </a:rPr>
              <a:t>Responsiveness</a:t>
            </a:r>
          </a:p>
          <a:p>
            <a:pPr algn="ctr"/>
            <a:br>
              <a:rPr lang="en-US" sz="2400" b="1" dirty="0">
                <a:solidFill>
                  <a:schemeClr val="bg1"/>
                </a:solidFill>
                <a:latin typeface="Segoe UI Light" panose="020B0502040204020203" pitchFamily="34" charset="0"/>
                <a:cs typeface="Segoe UI Light" panose="020B0502040204020203" pitchFamily="34" charset="0"/>
              </a:rPr>
            </a:br>
            <a:r>
              <a:rPr lang="he-IL" sz="2400" b="1" dirty="0">
                <a:solidFill>
                  <a:schemeClr val="bg1"/>
                </a:solidFill>
                <a:latin typeface="Segoe UI Light" panose="020B0502040204020203" pitchFamily="34" charset="0"/>
                <a:cs typeface="Segoe UI Light" panose="020B0502040204020203" pitchFamily="34" charset="0"/>
              </a:rPr>
              <a:t>האתר מותאם באופן מלא למגוון מכשירים ומספק חווית שימוש ידידותית ונעימה</a:t>
            </a:r>
            <a:endParaRPr lang="he-IL" sz="2400" b="0" i="0" u="none" strike="noStrike" dirty="0">
              <a:solidFill>
                <a:schemeClr val="bg1"/>
              </a:solidFill>
              <a:effectLst/>
              <a:latin typeface="Arial" panose="020B0604020202020204" pitchFamily="34" charset="0"/>
            </a:endParaRPr>
          </a:p>
        </p:txBody>
      </p:sp>
      <p:sp>
        <p:nvSpPr>
          <p:cNvPr id="2" name="מלבן: פינות מעוגלות 1">
            <a:extLst>
              <a:ext uri="{FF2B5EF4-FFF2-40B4-BE49-F238E27FC236}">
                <a16:creationId xmlns:a16="http://schemas.microsoft.com/office/drawing/2014/main" id="{0A9CC5F5-1FDC-4E4D-9589-228783EBD631}"/>
              </a:ext>
            </a:extLst>
          </p:cNvPr>
          <p:cNvSpPr/>
          <p:nvPr/>
        </p:nvSpPr>
        <p:spPr>
          <a:xfrm>
            <a:off x="688936" y="4505126"/>
            <a:ext cx="6248836" cy="753979"/>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תיבת טקסט 7">
            <a:extLst>
              <a:ext uri="{FF2B5EF4-FFF2-40B4-BE49-F238E27FC236}">
                <a16:creationId xmlns:a16="http://schemas.microsoft.com/office/drawing/2014/main" id="{C196ECD2-B45F-4702-A7D3-DD52A3D1FFE7}"/>
              </a:ext>
            </a:extLst>
          </p:cNvPr>
          <p:cNvSpPr txBox="1"/>
          <p:nvPr/>
        </p:nvSpPr>
        <p:spPr>
          <a:xfrm>
            <a:off x="1054441" y="4558949"/>
            <a:ext cx="5517826" cy="646331"/>
          </a:xfrm>
          <a:prstGeom prst="rect">
            <a:avLst/>
          </a:prstGeom>
          <a:noFill/>
          <a:ln>
            <a:solidFill>
              <a:srgbClr val="EACCD2"/>
            </a:solidFill>
          </a:ln>
          <a:effectLst>
            <a:softEdge rad="31750"/>
          </a:effectLst>
        </p:spPr>
        <p:txBody>
          <a:bodyPr wrap="square" rtlCol="1">
            <a:spAutoFit/>
          </a:bodyPr>
          <a:lstStyle/>
          <a:p>
            <a:pPr algn="ctr" rtl="1"/>
            <a:r>
              <a:rPr lang="he-IL" dirty="0">
                <a:solidFill>
                  <a:schemeClr val="bg1"/>
                </a:solidFill>
              </a:rPr>
              <a:t>מערכת מאובטחת, הרשאות מסודרות, ולידציה מלאה, שימוש בטכנולוגית </a:t>
            </a:r>
            <a:r>
              <a:rPr lang="en-US" dirty="0" err="1">
                <a:solidFill>
                  <a:schemeClr val="bg1"/>
                </a:solidFill>
              </a:rPr>
              <a:t>bcrypt</a:t>
            </a:r>
            <a:r>
              <a:rPr lang="he-IL" dirty="0">
                <a:solidFill>
                  <a:schemeClr val="bg1"/>
                </a:solidFill>
              </a:rPr>
              <a:t>  ,</a:t>
            </a:r>
            <a:r>
              <a:rPr lang="en-US" dirty="0">
                <a:solidFill>
                  <a:schemeClr val="bg1"/>
                </a:solidFill>
              </a:rPr>
              <a:t>token</a:t>
            </a:r>
            <a:r>
              <a:rPr lang="he-IL" dirty="0">
                <a:solidFill>
                  <a:schemeClr val="bg1"/>
                </a:solidFill>
              </a:rPr>
              <a:t> </a:t>
            </a:r>
          </a:p>
        </p:txBody>
      </p:sp>
    </p:spTree>
    <p:extLst>
      <p:ext uri="{BB962C8B-B14F-4D97-AF65-F5344CB8AC3E}">
        <p14:creationId xmlns:p14="http://schemas.microsoft.com/office/powerpoint/2010/main" val="3141591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מציין מיקום תוכן 5">
            <a:extLst>
              <a:ext uri="{FF2B5EF4-FFF2-40B4-BE49-F238E27FC236}">
                <a16:creationId xmlns:a16="http://schemas.microsoft.com/office/drawing/2014/main" id="{28151039-FA32-4E0E-BFE5-C7C994792C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8286" y="2222500"/>
            <a:ext cx="7695428" cy="3636963"/>
          </a:xfrm>
        </p:spPr>
      </p:pic>
      <p:sp>
        <p:nvSpPr>
          <p:cNvPr id="4" name="תיבת טקסט 3">
            <a:extLst>
              <a:ext uri="{FF2B5EF4-FFF2-40B4-BE49-F238E27FC236}">
                <a16:creationId xmlns:a16="http://schemas.microsoft.com/office/drawing/2014/main" id="{E1B241FB-ED5C-4098-988F-69865CB153EC}"/>
              </a:ext>
            </a:extLst>
          </p:cNvPr>
          <p:cNvSpPr txBox="1"/>
          <p:nvPr/>
        </p:nvSpPr>
        <p:spPr>
          <a:xfrm>
            <a:off x="4443663" y="603085"/>
            <a:ext cx="3304674" cy="1015663"/>
          </a:xfrm>
          <a:prstGeom prst="rect">
            <a:avLst/>
          </a:prstGeom>
          <a:noFill/>
        </p:spPr>
        <p:txBody>
          <a:bodyPr wrap="square" rtlCol="1">
            <a:spAutoFit/>
          </a:bodyPr>
          <a:lstStyle/>
          <a:p>
            <a:r>
              <a:rPr lang="he-IL" sz="6000" dirty="0">
                <a:solidFill>
                  <a:schemeClr val="bg1"/>
                </a:solidFill>
              </a:rPr>
              <a:t>מסך ראשי</a:t>
            </a:r>
          </a:p>
        </p:txBody>
      </p:sp>
    </p:spTree>
    <p:extLst>
      <p:ext uri="{BB962C8B-B14F-4D97-AF65-F5344CB8AC3E}">
        <p14:creationId xmlns:p14="http://schemas.microsoft.com/office/powerpoint/2010/main" val="1405076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מציין מיקום תוכן 7">
            <a:extLst>
              <a:ext uri="{FF2B5EF4-FFF2-40B4-BE49-F238E27FC236}">
                <a16:creationId xmlns:a16="http://schemas.microsoft.com/office/drawing/2014/main" id="{5D6E9BAE-E46B-4C4A-ABF7-DE9FDD206E0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34418" y="1120117"/>
            <a:ext cx="5403219" cy="2520000"/>
          </a:xfrm>
        </p:spPr>
      </p:pic>
      <p:sp>
        <p:nvSpPr>
          <p:cNvPr id="5" name="תיבת טקסט 4">
            <a:extLst>
              <a:ext uri="{FF2B5EF4-FFF2-40B4-BE49-F238E27FC236}">
                <a16:creationId xmlns:a16="http://schemas.microsoft.com/office/drawing/2014/main" id="{FF55684E-E96A-4F4C-BC15-78D329EC80F3}"/>
              </a:ext>
            </a:extLst>
          </p:cNvPr>
          <p:cNvSpPr txBox="1"/>
          <p:nvPr/>
        </p:nvSpPr>
        <p:spPr>
          <a:xfrm>
            <a:off x="5185220" y="128796"/>
            <a:ext cx="1821559" cy="1015663"/>
          </a:xfrm>
          <a:prstGeom prst="rect">
            <a:avLst/>
          </a:prstGeom>
          <a:noFill/>
        </p:spPr>
        <p:txBody>
          <a:bodyPr wrap="square" rtlCol="1">
            <a:spAutoFit/>
          </a:bodyPr>
          <a:lstStyle/>
          <a:p>
            <a:r>
              <a:rPr lang="he-IL" sz="6000" dirty="0">
                <a:solidFill>
                  <a:schemeClr val="bg1"/>
                </a:solidFill>
              </a:rPr>
              <a:t>מנהל</a:t>
            </a:r>
          </a:p>
        </p:txBody>
      </p:sp>
      <p:pic>
        <p:nvPicPr>
          <p:cNvPr id="12" name="מציין מיקום תוכן 11">
            <a:extLst>
              <a:ext uri="{FF2B5EF4-FFF2-40B4-BE49-F238E27FC236}">
                <a16:creationId xmlns:a16="http://schemas.microsoft.com/office/drawing/2014/main" id="{759A0073-7A00-4F1F-B643-F0F71CAC63E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39873" y="1120117"/>
            <a:ext cx="5376376" cy="2520000"/>
          </a:xfrm>
        </p:spPr>
      </p:pic>
      <p:pic>
        <p:nvPicPr>
          <p:cNvPr id="16" name="תמונה 15">
            <a:extLst>
              <a:ext uri="{FF2B5EF4-FFF2-40B4-BE49-F238E27FC236}">
                <a16:creationId xmlns:a16="http://schemas.microsoft.com/office/drawing/2014/main" id="{6BF7B806-6E44-4EE7-B1F0-CF35EF083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8516" y="3909485"/>
            <a:ext cx="4618595" cy="2160000"/>
          </a:xfrm>
          <a:prstGeom prst="rect">
            <a:avLst/>
          </a:prstGeom>
        </p:spPr>
      </p:pic>
      <p:sp>
        <p:nvSpPr>
          <p:cNvPr id="7" name="תיבת טקסט 6">
            <a:extLst>
              <a:ext uri="{FF2B5EF4-FFF2-40B4-BE49-F238E27FC236}">
                <a16:creationId xmlns:a16="http://schemas.microsoft.com/office/drawing/2014/main" id="{0D79323F-2DB7-45A7-8B6D-882167BE0904}"/>
              </a:ext>
            </a:extLst>
          </p:cNvPr>
          <p:cNvSpPr txBox="1"/>
          <p:nvPr/>
        </p:nvSpPr>
        <p:spPr>
          <a:xfrm>
            <a:off x="510997" y="4201923"/>
            <a:ext cx="1549399" cy="323165"/>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הצגת לקוחות</a:t>
            </a:r>
          </a:p>
        </p:txBody>
      </p:sp>
      <p:sp>
        <p:nvSpPr>
          <p:cNvPr id="2" name="חץ: ימינה 1">
            <a:extLst>
              <a:ext uri="{FF2B5EF4-FFF2-40B4-BE49-F238E27FC236}">
                <a16:creationId xmlns:a16="http://schemas.microsoft.com/office/drawing/2014/main" id="{3E41261A-3FDD-4F03-9263-8D10807A5691}"/>
              </a:ext>
            </a:extLst>
          </p:cNvPr>
          <p:cNvSpPr/>
          <p:nvPr/>
        </p:nvSpPr>
        <p:spPr>
          <a:xfrm rot="18846573">
            <a:off x="1282413" y="3690750"/>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B050DD32-3D97-43F8-92E1-0ABE7952D8EC}"/>
              </a:ext>
            </a:extLst>
          </p:cNvPr>
          <p:cNvSpPr txBox="1"/>
          <p:nvPr/>
        </p:nvSpPr>
        <p:spPr>
          <a:xfrm>
            <a:off x="8470817" y="6406039"/>
            <a:ext cx="1549399" cy="323165"/>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ניהול עובדים</a:t>
            </a:r>
          </a:p>
        </p:txBody>
      </p:sp>
      <p:sp>
        <p:nvSpPr>
          <p:cNvPr id="10" name="חץ: ימינה 9">
            <a:extLst>
              <a:ext uri="{FF2B5EF4-FFF2-40B4-BE49-F238E27FC236}">
                <a16:creationId xmlns:a16="http://schemas.microsoft.com/office/drawing/2014/main" id="{1410F078-0C63-462D-BC43-DFDB0D5BBCF8}"/>
              </a:ext>
            </a:extLst>
          </p:cNvPr>
          <p:cNvSpPr/>
          <p:nvPr/>
        </p:nvSpPr>
        <p:spPr>
          <a:xfrm rot="12219688">
            <a:off x="7886631" y="6234714"/>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11" name="תיבת טקסט 10">
            <a:extLst>
              <a:ext uri="{FF2B5EF4-FFF2-40B4-BE49-F238E27FC236}">
                <a16:creationId xmlns:a16="http://schemas.microsoft.com/office/drawing/2014/main" id="{9D2607D3-D847-4EF7-8697-7A01AAD8775E}"/>
              </a:ext>
            </a:extLst>
          </p:cNvPr>
          <p:cNvSpPr txBox="1"/>
          <p:nvPr/>
        </p:nvSpPr>
        <p:spPr>
          <a:xfrm>
            <a:off x="10608124" y="4248089"/>
            <a:ext cx="1549399" cy="553998"/>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עדכון פרטים אישים</a:t>
            </a:r>
          </a:p>
        </p:txBody>
      </p:sp>
      <p:sp>
        <p:nvSpPr>
          <p:cNvPr id="13" name="חץ: ימינה 12">
            <a:extLst>
              <a:ext uri="{FF2B5EF4-FFF2-40B4-BE49-F238E27FC236}">
                <a16:creationId xmlns:a16="http://schemas.microsoft.com/office/drawing/2014/main" id="{D5A38AE2-4A36-4A11-A856-6A16F92DA95A}"/>
              </a:ext>
            </a:extLst>
          </p:cNvPr>
          <p:cNvSpPr/>
          <p:nvPr/>
        </p:nvSpPr>
        <p:spPr>
          <a:xfrm rot="14772931">
            <a:off x="10888036" y="3613834"/>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a:extLst>
              <a:ext uri="{FF2B5EF4-FFF2-40B4-BE49-F238E27FC236}">
                <a16:creationId xmlns:a16="http://schemas.microsoft.com/office/drawing/2014/main" id="{7549D4A4-C99C-405C-BC19-1E00F015A6A0}"/>
              </a:ext>
            </a:extLst>
          </p:cNvPr>
          <p:cNvPicPr>
            <a:picLocks noChangeAspect="1"/>
          </p:cNvPicPr>
          <p:nvPr/>
        </p:nvPicPr>
        <p:blipFill>
          <a:blip r:embed="rId5"/>
          <a:stretch>
            <a:fillRect/>
          </a:stretch>
        </p:blipFill>
        <p:spPr>
          <a:xfrm>
            <a:off x="2055841" y="4372315"/>
            <a:ext cx="4596923" cy="2160000"/>
          </a:xfrm>
          <a:prstGeom prst="rect">
            <a:avLst/>
          </a:prstGeom>
        </p:spPr>
      </p:pic>
    </p:spTree>
    <p:extLst>
      <p:ext uri="{BB962C8B-B14F-4D97-AF65-F5344CB8AC3E}">
        <p14:creationId xmlns:p14="http://schemas.microsoft.com/office/powerpoint/2010/main" val="383716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B56FB553-ED7B-4834-88E4-3B7E3AA1B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161" y="479742"/>
            <a:ext cx="5364440" cy="2520000"/>
          </a:xfrm>
          <a:prstGeom prst="rect">
            <a:avLst/>
          </a:prstGeom>
        </p:spPr>
      </p:pic>
      <p:pic>
        <p:nvPicPr>
          <p:cNvPr id="6" name="תמונה 5">
            <a:extLst>
              <a:ext uri="{FF2B5EF4-FFF2-40B4-BE49-F238E27FC236}">
                <a16:creationId xmlns:a16="http://schemas.microsoft.com/office/drawing/2014/main" id="{750F7708-E77E-4A14-8215-2D008EA6C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070" y="1260000"/>
            <a:ext cx="5373201" cy="2520000"/>
          </a:xfrm>
          <a:prstGeom prst="rect">
            <a:avLst/>
          </a:prstGeom>
        </p:spPr>
      </p:pic>
      <p:pic>
        <p:nvPicPr>
          <p:cNvPr id="8" name="תמונה 7">
            <a:extLst>
              <a:ext uri="{FF2B5EF4-FFF2-40B4-BE49-F238E27FC236}">
                <a16:creationId xmlns:a16="http://schemas.microsoft.com/office/drawing/2014/main" id="{DBB33342-4585-4BCB-B6FE-57B780FB61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46524" y="4010196"/>
            <a:ext cx="5385167" cy="2520000"/>
          </a:xfrm>
          <a:prstGeom prst="rect">
            <a:avLst/>
          </a:prstGeom>
        </p:spPr>
      </p:pic>
      <p:sp>
        <p:nvSpPr>
          <p:cNvPr id="9" name="חץ: מעגלי 8">
            <a:extLst>
              <a:ext uri="{FF2B5EF4-FFF2-40B4-BE49-F238E27FC236}">
                <a16:creationId xmlns:a16="http://schemas.microsoft.com/office/drawing/2014/main" id="{338105E1-28A9-479B-9E39-98374B69A4B4}"/>
              </a:ext>
            </a:extLst>
          </p:cNvPr>
          <p:cNvSpPr/>
          <p:nvPr/>
        </p:nvSpPr>
        <p:spPr>
          <a:xfrm rot="1209731">
            <a:off x="5943865" y="540600"/>
            <a:ext cx="978408" cy="978408"/>
          </a:xfrm>
          <a:prstGeom prst="circularArrow">
            <a:avLst/>
          </a:prstGeom>
          <a:solidFill>
            <a:srgbClr val="EEF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0" name="חץ: מעגלי 9">
            <a:extLst>
              <a:ext uri="{FF2B5EF4-FFF2-40B4-BE49-F238E27FC236}">
                <a16:creationId xmlns:a16="http://schemas.microsoft.com/office/drawing/2014/main" id="{C5037E50-3DCA-42D1-9FC7-432EFDCC4570}"/>
              </a:ext>
            </a:extLst>
          </p:cNvPr>
          <p:cNvSpPr/>
          <p:nvPr/>
        </p:nvSpPr>
        <p:spPr>
          <a:xfrm rot="7735477">
            <a:off x="7830175" y="3918908"/>
            <a:ext cx="978408" cy="978408"/>
          </a:xfrm>
          <a:prstGeom prst="circularArrow">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2" name="תיבת טקסט 11">
            <a:extLst>
              <a:ext uri="{FF2B5EF4-FFF2-40B4-BE49-F238E27FC236}">
                <a16:creationId xmlns:a16="http://schemas.microsoft.com/office/drawing/2014/main" id="{B8236C21-C8C8-4D34-B0B9-069EC6970FDB}"/>
              </a:ext>
            </a:extLst>
          </p:cNvPr>
          <p:cNvSpPr txBox="1"/>
          <p:nvPr/>
        </p:nvSpPr>
        <p:spPr>
          <a:xfrm>
            <a:off x="9119670" y="48016"/>
            <a:ext cx="2871476" cy="707886"/>
          </a:xfrm>
          <a:prstGeom prst="rect">
            <a:avLst/>
          </a:prstGeom>
          <a:noFill/>
        </p:spPr>
        <p:txBody>
          <a:bodyPr wrap="square" rtlCol="1">
            <a:spAutoFit/>
          </a:bodyPr>
          <a:lstStyle/>
          <a:p>
            <a:pPr algn="r"/>
            <a:r>
              <a:rPr lang="he-IL" sz="4000" dirty="0">
                <a:solidFill>
                  <a:schemeClr val="bg1"/>
                </a:solidFill>
              </a:rPr>
              <a:t>בקרת שיחות</a:t>
            </a:r>
          </a:p>
        </p:txBody>
      </p:sp>
      <p:sp>
        <p:nvSpPr>
          <p:cNvPr id="13" name="תיבת טקסט 12">
            <a:extLst>
              <a:ext uri="{FF2B5EF4-FFF2-40B4-BE49-F238E27FC236}">
                <a16:creationId xmlns:a16="http://schemas.microsoft.com/office/drawing/2014/main" id="{ADF352CB-CB4A-4564-8631-45C97EC87EA3}"/>
              </a:ext>
            </a:extLst>
          </p:cNvPr>
          <p:cNvSpPr txBox="1"/>
          <p:nvPr/>
        </p:nvSpPr>
        <p:spPr>
          <a:xfrm>
            <a:off x="567268" y="2380037"/>
            <a:ext cx="1549399" cy="553998"/>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אפשרויות חיפוש מתקדמות</a:t>
            </a:r>
          </a:p>
        </p:txBody>
      </p:sp>
      <p:sp>
        <p:nvSpPr>
          <p:cNvPr id="14" name="תיבת טקסט 13">
            <a:extLst>
              <a:ext uri="{FF2B5EF4-FFF2-40B4-BE49-F238E27FC236}">
                <a16:creationId xmlns:a16="http://schemas.microsoft.com/office/drawing/2014/main" id="{FC7B0842-A00A-4184-B9D9-03ABE9ED13ED}"/>
              </a:ext>
            </a:extLst>
          </p:cNvPr>
          <p:cNvSpPr txBox="1"/>
          <p:nvPr/>
        </p:nvSpPr>
        <p:spPr>
          <a:xfrm>
            <a:off x="6493935" y="3137842"/>
            <a:ext cx="1549399" cy="553998"/>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רשימת שיחות ע"פ הסינון</a:t>
            </a:r>
          </a:p>
        </p:txBody>
      </p:sp>
      <p:sp>
        <p:nvSpPr>
          <p:cNvPr id="15" name="תיבת טקסט 14">
            <a:extLst>
              <a:ext uri="{FF2B5EF4-FFF2-40B4-BE49-F238E27FC236}">
                <a16:creationId xmlns:a16="http://schemas.microsoft.com/office/drawing/2014/main" id="{D8076A41-0C23-46A4-9D59-394C5AC2FDC4}"/>
              </a:ext>
            </a:extLst>
          </p:cNvPr>
          <p:cNvSpPr txBox="1"/>
          <p:nvPr/>
        </p:nvSpPr>
        <p:spPr>
          <a:xfrm>
            <a:off x="2524325" y="5889508"/>
            <a:ext cx="1549399" cy="553998"/>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פירוט שיחה מבוקשת</a:t>
            </a:r>
          </a:p>
        </p:txBody>
      </p:sp>
    </p:spTree>
    <p:extLst>
      <p:ext uri="{BB962C8B-B14F-4D97-AF65-F5344CB8AC3E}">
        <p14:creationId xmlns:p14="http://schemas.microsoft.com/office/powerpoint/2010/main" val="649467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F55684E-E96A-4F4C-BC15-78D329EC80F3}"/>
              </a:ext>
            </a:extLst>
          </p:cNvPr>
          <p:cNvSpPr txBox="1"/>
          <p:nvPr/>
        </p:nvSpPr>
        <p:spPr>
          <a:xfrm>
            <a:off x="5276544" y="603085"/>
            <a:ext cx="1638912" cy="1015663"/>
          </a:xfrm>
          <a:prstGeom prst="rect">
            <a:avLst/>
          </a:prstGeom>
          <a:noFill/>
        </p:spPr>
        <p:txBody>
          <a:bodyPr wrap="square" rtlCol="1">
            <a:spAutoFit/>
          </a:bodyPr>
          <a:lstStyle/>
          <a:p>
            <a:r>
              <a:rPr lang="he-IL" sz="6000" dirty="0">
                <a:solidFill>
                  <a:schemeClr val="bg1"/>
                </a:solidFill>
              </a:rPr>
              <a:t>עובד</a:t>
            </a:r>
          </a:p>
        </p:txBody>
      </p:sp>
      <p:pic>
        <p:nvPicPr>
          <p:cNvPr id="6" name="תמונה 5">
            <a:extLst>
              <a:ext uri="{FF2B5EF4-FFF2-40B4-BE49-F238E27FC236}">
                <a16:creationId xmlns:a16="http://schemas.microsoft.com/office/drawing/2014/main" id="{C7677553-ACAF-4AF9-A294-941C1A871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802" y="2512157"/>
            <a:ext cx="5370767" cy="2520000"/>
          </a:xfrm>
          <a:prstGeom prst="rect">
            <a:avLst/>
          </a:prstGeom>
        </p:spPr>
      </p:pic>
      <p:sp>
        <p:nvSpPr>
          <p:cNvPr id="8" name="תיבת טקסט 7">
            <a:extLst>
              <a:ext uri="{FF2B5EF4-FFF2-40B4-BE49-F238E27FC236}">
                <a16:creationId xmlns:a16="http://schemas.microsoft.com/office/drawing/2014/main" id="{19B06803-8C78-49CC-B9F2-E021F034E116}"/>
              </a:ext>
            </a:extLst>
          </p:cNvPr>
          <p:cNvSpPr txBox="1"/>
          <p:nvPr/>
        </p:nvSpPr>
        <p:spPr>
          <a:xfrm>
            <a:off x="343935" y="5758452"/>
            <a:ext cx="1549399" cy="553998"/>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עדכון פרטים אישים</a:t>
            </a:r>
          </a:p>
        </p:txBody>
      </p:sp>
      <p:sp>
        <p:nvSpPr>
          <p:cNvPr id="9" name="חץ: ימינה 8">
            <a:extLst>
              <a:ext uri="{FF2B5EF4-FFF2-40B4-BE49-F238E27FC236}">
                <a16:creationId xmlns:a16="http://schemas.microsoft.com/office/drawing/2014/main" id="{1B6CC7DD-163D-402E-BADC-AC66FC2D2775}"/>
              </a:ext>
            </a:extLst>
          </p:cNvPr>
          <p:cNvSpPr/>
          <p:nvPr/>
        </p:nvSpPr>
        <p:spPr>
          <a:xfrm rot="17644764">
            <a:off x="352661" y="5125674"/>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a:extLst>
              <a:ext uri="{FF2B5EF4-FFF2-40B4-BE49-F238E27FC236}">
                <a16:creationId xmlns:a16="http://schemas.microsoft.com/office/drawing/2014/main" id="{5F16BEAF-1584-47E5-A9D4-33CE24459F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2772" y="2512157"/>
            <a:ext cx="5412915" cy="2520000"/>
          </a:xfrm>
          <a:prstGeom prst="rect">
            <a:avLst/>
          </a:prstGeom>
        </p:spPr>
      </p:pic>
      <p:sp>
        <p:nvSpPr>
          <p:cNvPr id="12" name="תיבת טקסט 11">
            <a:extLst>
              <a:ext uri="{FF2B5EF4-FFF2-40B4-BE49-F238E27FC236}">
                <a16:creationId xmlns:a16="http://schemas.microsoft.com/office/drawing/2014/main" id="{BA12A417-36E6-4029-B8AC-080F8D4EE956}"/>
              </a:ext>
            </a:extLst>
          </p:cNvPr>
          <p:cNvSpPr txBox="1"/>
          <p:nvPr/>
        </p:nvSpPr>
        <p:spPr>
          <a:xfrm>
            <a:off x="10316809" y="5758452"/>
            <a:ext cx="1549399" cy="553998"/>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פתיחת צ'אט עם לקוח</a:t>
            </a:r>
          </a:p>
        </p:txBody>
      </p:sp>
      <p:sp>
        <p:nvSpPr>
          <p:cNvPr id="13" name="חץ: ימינה 12">
            <a:extLst>
              <a:ext uri="{FF2B5EF4-FFF2-40B4-BE49-F238E27FC236}">
                <a16:creationId xmlns:a16="http://schemas.microsoft.com/office/drawing/2014/main" id="{0BE5A573-FFA9-465D-98E4-91EFA6C4C950}"/>
              </a:ext>
            </a:extLst>
          </p:cNvPr>
          <p:cNvSpPr/>
          <p:nvPr/>
        </p:nvSpPr>
        <p:spPr>
          <a:xfrm rot="14770091">
            <a:off x="10655646" y="5057940"/>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484113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Video_2025-11-18_185318">
            <a:hlinkClick r:id="" action="ppaction://media"/>
            <a:extLst>
              <a:ext uri="{FF2B5EF4-FFF2-40B4-BE49-F238E27FC236}">
                <a16:creationId xmlns:a16="http://schemas.microsoft.com/office/drawing/2014/main" id="{6AB33E52-CC6F-4712-9A3E-C4CAAF663C64}"/>
              </a:ext>
            </a:extLst>
          </p:cNvPr>
          <p:cNvPicPr>
            <a:picLocks noChangeAspect="1"/>
          </p:cNvPicPr>
          <p:nvPr>
            <a:videoFile r:link="rId1"/>
            <p:extLst>
              <p:ext uri="{DAA4B4D4-6D71-4841-9C94-3DE7FCFB9230}">
                <p14:media xmlns:p14="http://schemas.microsoft.com/office/powerpoint/2010/main" r:embed="rId2">
                  <p14:trim end="1713"/>
                </p14:media>
              </p:ext>
            </p:extLst>
          </p:nvPr>
        </p:nvPicPr>
        <p:blipFill>
          <a:blip r:embed="rId4"/>
          <a:stretch>
            <a:fillRect/>
          </a:stretch>
        </p:blipFill>
        <p:spPr>
          <a:xfrm>
            <a:off x="535462" y="440210"/>
            <a:ext cx="11121076" cy="5977580"/>
          </a:xfrm>
          <a:prstGeom prst="rect">
            <a:avLst/>
          </a:prstGeom>
        </p:spPr>
      </p:pic>
    </p:spTree>
    <p:extLst>
      <p:ext uri="{BB962C8B-B14F-4D97-AF65-F5344CB8AC3E}">
        <p14:creationId xmlns:p14="http://schemas.microsoft.com/office/powerpoint/2010/main" val="395610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8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100000">
                <p:cTn id="12" fill="hold" display="0">
                  <p:stCondLst>
                    <p:cond delay="indefinite"/>
                  </p:stCondLst>
                </p:cTn>
                <p:tgtEl>
                  <p:spTgt spid="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F55684E-E96A-4F4C-BC15-78D329EC80F3}"/>
              </a:ext>
            </a:extLst>
          </p:cNvPr>
          <p:cNvSpPr txBox="1"/>
          <p:nvPr/>
        </p:nvSpPr>
        <p:spPr>
          <a:xfrm>
            <a:off x="5383656" y="95253"/>
            <a:ext cx="1821559" cy="1015663"/>
          </a:xfrm>
          <a:prstGeom prst="rect">
            <a:avLst/>
          </a:prstGeom>
          <a:noFill/>
        </p:spPr>
        <p:txBody>
          <a:bodyPr wrap="square" rtlCol="1">
            <a:spAutoFit/>
          </a:bodyPr>
          <a:lstStyle/>
          <a:p>
            <a:r>
              <a:rPr lang="he-IL" sz="6000" dirty="0">
                <a:solidFill>
                  <a:schemeClr val="bg1"/>
                </a:solidFill>
              </a:rPr>
              <a:t>לקוח</a:t>
            </a:r>
          </a:p>
        </p:txBody>
      </p:sp>
      <p:pic>
        <p:nvPicPr>
          <p:cNvPr id="3" name="תמונה 2">
            <a:extLst>
              <a:ext uri="{FF2B5EF4-FFF2-40B4-BE49-F238E27FC236}">
                <a16:creationId xmlns:a16="http://schemas.microsoft.com/office/drawing/2014/main" id="{C825FA23-0217-4ECA-BD3D-5B49E2434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4901" y="1213199"/>
            <a:ext cx="5361286" cy="2520000"/>
          </a:xfrm>
          <a:prstGeom prst="rect">
            <a:avLst/>
          </a:prstGeom>
        </p:spPr>
      </p:pic>
      <p:pic>
        <p:nvPicPr>
          <p:cNvPr id="13" name="תמונה 12">
            <a:extLst>
              <a:ext uri="{FF2B5EF4-FFF2-40B4-BE49-F238E27FC236}">
                <a16:creationId xmlns:a16="http://schemas.microsoft.com/office/drawing/2014/main" id="{A41E2D79-9B26-4EE7-B5B3-E6F3B9EE4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331" y="1182537"/>
            <a:ext cx="5385167" cy="2520000"/>
          </a:xfrm>
          <a:prstGeom prst="rect">
            <a:avLst/>
          </a:prstGeom>
        </p:spPr>
      </p:pic>
      <p:pic>
        <p:nvPicPr>
          <p:cNvPr id="15" name="תמונה 14">
            <a:extLst>
              <a:ext uri="{FF2B5EF4-FFF2-40B4-BE49-F238E27FC236}">
                <a16:creationId xmlns:a16="http://schemas.microsoft.com/office/drawing/2014/main" id="{B687D25D-9C19-4BC2-B586-F59832E2C6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2571" y="3819067"/>
            <a:ext cx="5319999" cy="2520000"/>
          </a:xfrm>
          <a:prstGeom prst="rect">
            <a:avLst/>
          </a:prstGeom>
        </p:spPr>
      </p:pic>
      <p:sp>
        <p:nvSpPr>
          <p:cNvPr id="16" name="תיבת טקסט 15">
            <a:extLst>
              <a:ext uri="{FF2B5EF4-FFF2-40B4-BE49-F238E27FC236}">
                <a16:creationId xmlns:a16="http://schemas.microsoft.com/office/drawing/2014/main" id="{ECA59952-1AEB-421E-8BDC-1298DB97AA9B}"/>
              </a:ext>
            </a:extLst>
          </p:cNvPr>
          <p:cNvSpPr txBox="1"/>
          <p:nvPr/>
        </p:nvSpPr>
        <p:spPr>
          <a:xfrm>
            <a:off x="53947" y="522769"/>
            <a:ext cx="1549399" cy="553998"/>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הצגת שיחות קודמות</a:t>
            </a:r>
          </a:p>
        </p:txBody>
      </p:sp>
      <p:sp>
        <p:nvSpPr>
          <p:cNvPr id="17" name="חץ: ימינה 16">
            <a:extLst>
              <a:ext uri="{FF2B5EF4-FFF2-40B4-BE49-F238E27FC236}">
                <a16:creationId xmlns:a16="http://schemas.microsoft.com/office/drawing/2014/main" id="{916F8A3C-6DFA-4B21-A3FA-38A9A0284CED}"/>
              </a:ext>
            </a:extLst>
          </p:cNvPr>
          <p:cNvSpPr/>
          <p:nvPr/>
        </p:nvSpPr>
        <p:spPr>
          <a:xfrm rot="1976127">
            <a:off x="1218552" y="909974"/>
            <a:ext cx="871724" cy="333586"/>
          </a:xfrm>
          <a:prstGeom prst="rightArrow">
            <a:avLst>
              <a:gd name="adj1" fmla="val 18553"/>
              <a:gd name="adj2" fmla="val 39518"/>
            </a:avLst>
          </a:prstGeom>
          <a:solidFill>
            <a:srgbClr val="EEF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תיבת טקסט 17">
            <a:extLst>
              <a:ext uri="{FF2B5EF4-FFF2-40B4-BE49-F238E27FC236}">
                <a16:creationId xmlns:a16="http://schemas.microsoft.com/office/drawing/2014/main" id="{E3A51D1E-6D55-4626-A49C-D1B28E690D1C}"/>
              </a:ext>
            </a:extLst>
          </p:cNvPr>
          <p:cNvSpPr txBox="1"/>
          <p:nvPr/>
        </p:nvSpPr>
        <p:spPr>
          <a:xfrm>
            <a:off x="10780993" y="6161807"/>
            <a:ext cx="1578266" cy="553998"/>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עדכון פרטים אישים</a:t>
            </a:r>
          </a:p>
        </p:txBody>
      </p:sp>
      <p:sp>
        <p:nvSpPr>
          <p:cNvPr id="19" name="חץ: ימינה 18">
            <a:extLst>
              <a:ext uri="{FF2B5EF4-FFF2-40B4-BE49-F238E27FC236}">
                <a16:creationId xmlns:a16="http://schemas.microsoft.com/office/drawing/2014/main" id="{53ADDA15-0E74-4C69-AEB1-948BBFC4E750}"/>
              </a:ext>
            </a:extLst>
          </p:cNvPr>
          <p:cNvSpPr/>
          <p:nvPr/>
        </p:nvSpPr>
        <p:spPr>
          <a:xfrm rot="12791688">
            <a:off x="10337009" y="6187192"/>
            <a:ext cx="887965" cy="40580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0" name="תיבת טקסט 19">
            <a:extLst>
              <a:ext uri="{FF2B5EF4-FFF2-40B4-BE49-F238E27FC236}">
                <a16:creationId xmlns:a16="http://schemas.microsoft.com/office/drawing/2014/main" id="{2C7EF18C-F651-4D5E-9D68-C6C887F78FDB}"/>
              </a:ext>
            </a:extLst>
          </p:cNvPr>
          <p:cNvSpPr txBox="1"/>
          <p:nvPr/>
        </p:nvSpPr>
        <p:spPr>
          <a:xfrm>
            <a:off x="10419321" y="572597"/>
            <a:ext cx="1549399" cy="323165"/>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מסך בית</a:t>
            </a:r>
          </a:p>
        </p:txBody>
      </p:sp>
      <p:sp>
        <p:nvSpPr>
          <p:cNvPr id="21" name="חץ: ימינה 20">
            <a:extLst>
              <a:ext uri="{FF2B5EF4-FFF2-40B4-BE49-F238E27FC236}">
                <a16:creationId xmlns:a16="http://schemas.microsoft.com/office/drawing/2014/main" id="{8C641D8D-8F9A-49B9-B6B3-DA9B1C85AAAA}"/>
              </a:ext>
            </a:extLst>
          </p:cNvPr>
          <p:cNvSpPr/>
          <p:nvPr/>
        </p:nvSpPr>
        <p:spPr>
          <a:xfrm rot="8007736">
            <a:off x="10269853" y="780982"/>
            <a:ext cx="625209" cy="477694"/>
          </a:xfrm>
          <a:prstGeom prst="rightArrow">
            <a:avLst>
              <a:gd name="adj1" fmla="val 18553"/>
              <a:gd name="adj2" fmla="val 39518"/>
            </a:avLst>
          </a:prstGeom>
          <a:solidFill>
            <a:srgbClr val="EEF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 name="תמונה 3">
            <a:extLst>
              <a:ext uri="{FF2B5EF4-FFF2-40B4-BE49-F238E27FC236}">
                <a16:creationId xmlns:a16="http://schemas.microsoft.com/office/drawing/2014/main" id="{83457FDE-6DEF-4A97-A268-9818C8956D17}"/>
              </a:ext>
            </a:extLst>
          </p:cNvPr>
          <p:cNvPicPr>
            <a:picLocks noChangeAspect="1"/>
          </p:cNvPicPr>
          <p:nvPr/>
        </p:nvPicPr>
        <p:blipFill>
          <a:blip r:embed="rId5"/>
          <a:stretch>
            <a:fillRect/>
          </a:stretch>
        </p:blipFill>
        <p:spPr>
          <a:xfrm>
            <a:off x="419672" y="3892975"/>
            <a:ext cx="5307907" cy="2520000"/>
          </a:xfrm>
          <a:prstGeom prst="rect">
            <a:avLst/>
          </a:prstGeom>
        </p:spPr>
      </p:pic>
      <p:sp>
        <p:nvSpPr>
          <p:cNvPr id="14" name="תיבת טקסט 13">
            <a:extLst>
              <a:ext uri="{FF2B5EF4-FFF2-40B4-BE49-F238E27FC236}">
                <a16:creationId xmlns:a16="http://schemas.microsoft.com/office/drawing/2014/main" id="{62C28DE2-424E-4465-8A82-831FCBED9D37}"/>
              </a:ext>
            </a:extLst>
          </p:cNvPr>
          <p:cNvSpPr txBox="1"/>
          <p:nvPr/>
        </p:nvSpPr>
        <p:spPr>
          <a:xfrm>
            <a:off x="-351482" y="6479797"/>
            <a:ext cx="1549399" cy="323165"/>
          </a:xfrm>
          <a:prstGeom prst="rect">
            <a:avLst/>
          </a:prstGeom>
          <a:noFill/>
          <a:ln>
            <a:solidFill>
              <a:srgbClr val="EACCD2"/>
            </a:solidFill>
          </a:ln>
          <a:effectLst>
            <a:softEdge rad="31750"/>
          </a:effectLst>
        </p:spPr>
        <p:txBody>
          <a:bodyPr wrap="square" rtlCol="1">
            <a:spAutoFit/>
          </a:bodyPr>
          <a:lstStyle/>
          <a:p>
            <a:pPr algn="ctr"/>
            <a:r>
              <a:rPr lang="he-IL" sz="1500" dirty="0">
                <a:solidFill>
                  <a:schemeClr val="bg1"/>
                </a:solidFill>
              </a:rPr>
              <a:t>רישום</a:t>
            </a:r>
          </a:p>
        </p:txBody>
      </p:sp>
      <p:sp>
        <p:nvSpPr>
          <p:cNvPr id="22" name="חץ: ימינה 21">
            <a:extLst>
              <a:ext uri="{FF2B5EF4-FFF2-40B4-BE49-F238E27FC236}">
                <a16:creationId xmlns:a16="http://schemas.microsoft.com/office/drawing/2014/main" id="{F9E6D7CF-0BFF-4937-B36C-C2CEA762A3E3}"/>
              </a:ext>
            </a:extLst>
          </p:cNvPr>
          <p:cNvSpPr/>
          <p:nvPr/>
        </p:nvSpPr>
        <p:spPr>
          <a:xfrm rot="19621135">
            <a:off x="642431" y="6351952"/>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3965799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F55684E-E96A-4F4C-BC15-78D329EC80F3}"/>
              </a:ext>
            </a:extLst>
          </p:cNvPr>
          <p:cNvSpPr txBox="1"/>
          <p:nvPr/>
        </p:nvSpPr>
        <p:spPr>
          <a:xfrm>
            <a:off x="262249" y="-113087"/>
            <a:ext cx="4936067" cy="1015663"/>
          </a:xfrm>
          <a:prstGeom prst="rect">
            <a:avLst/>
          </a:prstGeom>
          <a:noFill/>
        </p:spPr>
        <p:txBody>
          <a:bodyPr wrap="square" rtlCol="1">
            <a:spAutoFit/>
          </a:bodyPr>
          <a:lstStyle/>
          <a:p>
            <a:r>
              <a:rPr lang="he-IL" sz="6000" dirty="0">
                <a:solidFill>
                  <a:schemeClr val="bg1"/>
                </a:solidFill>
              </a:rPr>
              <a:t>תרשים שירות</a:t>
            </a:r>
          </a:p>
        </p:txBody>
      </p:sp>
      <p:pic>
        <p:nvPicPr>
          <p:cNvPr id="7" name="תמונה 6">
            <a:extLst>
              <a:ext uri="{FF2B5EF4-FFF2-40B4-BE49-F238E27FC236}">
                <a16:creationId xmlns:a16="http://schemas.microsoft.com/office/drawing/2014/main" id="{B174693C-60D8-43A8-B4C5-38D51E637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656" y="964505"/>
            <a:ext cx="4207773" cy="1980000"/>
          </a:xfrm>
          <a:prstGeom prst="rect">
            <a:avLst/>
          </a:prstGeom>
        </p:spPr>
      </p:pic>
      <p:pic>
        <p:nvPicPr>
          <p:cNvPr id="9" name="תמונה 8">
            <a:extLst>
              <a:ext uri="{FF2B5EF4-FFF2-40B4-BE49-F238E27FC236}">
                <a16:creationId xmlns:a16="http://schemas.microsoft.com/office/drawing/2014/main" id="{E5BD3979-3162-4A8E-BA09-E1E08E006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2445" y="336462"/>
            <a:ext cx="4221800" cy="1980000"/>
          </a:xfrm>
          <a:prstGeom prst="rect">
            <a:avLst/>
          </a:prstGeom>
        </p:spPr>
      </p:pic>
      <p:pic>
        <p:nvPicPr>
          <p:cNvPr id="11" name="תמונה 10">
            <a:extLst>
              <a:ext uri="{FF2B5EF4-FFF2-40B4-BE49-F238E27FC236}">
                <a16:creationId xmlns:a16="http://schemas.microsoft.com/office/drawing/2014/main" id="{878EEF69-C672-443A-9494-25997BD908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9739" y="2573309"/>
            <a:ext cx="4221800" cy="1980000"/>
          </a:xfrm>
          <a:prstGeom prst="rect">
            <a:avLst/>
          </a:prstGeom>
        </p:spPr>
      </p:pic>
      <p:sp>
        <p:nvSpPr>
          <p:cNvPr id="8" name="חץ: מעגלי 7">
            <a:extLst>
              <a:ext uri="{FF2B5EF4-FFF2-40B4-BE49-F238E27FC236}">
                <a16:creationId xmlns:a16="http://schemas.microsoft.com/office/drawing/2014/main" id="{424FC064-7689-4025-9618-73460B56846B}"/>
              </a:ext>
            </a:extLst>
          </p:cNvPr>
          <p:cNvSpPr/>
          <p:nvPr/>
        </p:nvSpPr>
        <p:spPr>
          <a:xfrm rot="1209731">
            <a:off x="6004731" y="479402"/>
            <a:ext cx="978408" cy="978408"/>
          </a:xfrm>
          <a:prstGeom prst="circularArrow">
            <a:avLst/>
          </a:prstGeom>
          <a:solidFill>
            <a:srgbClr val="EEF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chemeClr val="tx1"/>
              </a:solidFill>
            </a:endParaRPr>
          </a:p>
        </p:txBody>
      </p:sp>
      <p:sp>
        <p:nvSpPr>
          <p:cNvPr id="10" name="חץ: מעגלי 9">
            <a:extLst>
              <a:ext uri="{FF2B5EF4-FFF2-40B4-BE49-F238E27FC236}">
                <a16:creationId xmlns:a16="http://schemas.microsoft.com/office/drawing/2014/main" id="{BA302E9D-7A77-470A-8197-5FC675DE9649}"/>
              </a:ext>
            </a:extLst>
          </p:cNvPr>
          <p:cNvSpPr/>
          <p:nvPr/>
        </p:nvSpPr>
        <p:spPr>
          <a:xfrm rot="7129031">
            <a:off x="9220276" y="4660083"/>
            <a:ext cx="978408" cy="978408"/>
          </a:xfrm>
          <a:prstGeom prst="circularArrow">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2" name="תיבת טקסט 11">
            <a:extLst>
              <a:ext uri="{FF2B5EF4-FFF2-40B4-BE49-F238E27FC236}">
                <a16:creationId xmlns:a16="http://schemas.microsoft.com/office/drawing/2014/main" id="{72216303-E057-4E1A-8E04-010CCFF5328E}"/>
              </a:ext>
            </a:extLst>
          </p:cNvPr>
          <p:cNvSpPr txBox="1"/>
          <p:nvPr/>
        </p:nvSpPr>
        <p:spPr>
          <a:xfrm>
            <a:off x="508002" y="2600171"/>
            <a:ext cx="1549399" cy="323165"/>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בחירת נושא</a:t>
            </a:r>
          </a:p>
        </p:txBody>
      </p:sp>
      <p:sp>
        <p:nvSpPr>
          <p:cNvPr id="13" name="תיבת טקסט 12">
            <a:extLst>
              <a:ext uri="{FF2B5EF4-FFF2-40B4-BE49-F238E27FC236}">
                <a16:creationId xmlns:a16="http://schemas.microsoft.com/office/drawing/2014/main" id="{A8391669-5470-4844-89C5-5578C6493107}"/>
              </a:ext>
            </a:extLst>
          </p:cNvPr>
          <p:cNvSpPr txBox="1"/>
          <p:nvPr/>
        </p:nvSpPr>
        <p:spPr>
          <a:xfrm>
            <a:off x="5734319" y="1663508"/>
            <a:ext cx="1368142" cy="553998"/>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המתנה למענה מנציג שירות</a:t>
            </a:r>
          </a:p>
        </p:txBody>
      </p:sp>
      <p:sp>
        <p:nvSpPr>
          <p:cNvPr id="14" name="תיבת טקסט 13">
            <a:extLst>
              <a:ext uri="{FF2B5EF4-FFF2-40B4-BE49-F238E27FC236}">
                <a16:creationId xmlns:a16="http://schemas.microsoft.com/office/drawing/2014/main" id="{B33A0D58-E9FC-4A51-80E6-D11D203E8FCA}"/>
              </a:ext>
            </a:extLst>
          </p:cNvPr>
          <p:cNvSpPr txBox="1"/>
          <p:nvPr/>
        </p:nvSpPr>
        <p:spPr>
          <a:xfrm>
            <a:off x="7445314" y="4161696"/>
            <a:ext cx="1549399" cy="323165"/>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התכתבות</a:t>
            </a:r>
          </a:p>
        </p:txBody>
      </p:sp>
      <p:pic>
        <p:nvPicPr>
          <p:cNvPr id="15" name="תמונה 14">
            <a:extLst>
              <a:ext uri="{FF2B5EF4-FFF2-40B4-BE49-F238E27FC236}">
                <a16:creationId xmlns:a16="http://schemas.microsoft.com/office/drawing/2014/main" id="{2334037E-DED7-4918-860C-14D2673A3B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3851" y="4621756"/>
            <a:ext cx="4231202" cy="1980000"/>
          </a:xfrm>
          <a:prstGeom prst="rect">
            <a:avLst/>
          </a:prstGeom>
        </p:spPr>
      </p:pic>
      <p:pic>
        <p:nvPicPr>
          <p:cNvPr id="16" name="תמונה 15">
            <a:extLst>
              <a:ext uri="{FF2B5EF4-FFF2-40B4-BE49-F238E27FC236}">
                <a16:creationId xmlns:a16="http://schemas.microsoft.com/office/drawing/2014/main" id="{15F5F40B-F1E9-475C-85D3-F334619453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40" y="3175712"/>
            <a:ext cx="4231202" cy="1980000"/>
          </a:xfrm>
          <a:prstGeom prst="rect">
            <a:avLst/>
          </a:prstGeom>
        </p:spPr>
      </p:pic>
      <p:sp>
        <p:nvSpPr>
          <p:cNvPr id="17" name="תיבת טקסט 16">
            <a:extLst>
              <a:ext uri="{FF2B5EF4-FFF2-40B4-BE49-F238E27FC236}">
                <a16:creationId xmlns:a16="http://schemas.microsoft.com/office/drawing/2014/main" id="{6AA98F4C-BA9F-4665-9AAB-C70C6535F3E5}"/>
              </a:ext>
            </a:extLst>
          </p:cNvPr>
          <p:cNvSpPr txBox="1"/>
          <p:nvPr/>
        </p:nvSpPr>
        <p:spPr>
          <a:xfrm>
            <a:off x="4870869" y="6213114"/>
            <a:ext cx="1990442" cy="323165"/>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צפיה בשיחות אחרונות</a:t>
            </a:r>
          </a:p>
        </p:txBody>
      </p:sp>
      <p:sp>
        <p:nvSpPr>
          <p:cNvPr id="19" name="תיבת טקסט 18">
            <a:extLst>
              <a:ext uri="{FF2B5EF4-FFF2-40B4-BE49-F238E27FC236}">
                <a16:creationId xmlns:a16="http://schemas.microsoft.com/office/drawing/2014/main" id="{1F459711-EBCA-4E77-A2CF-8BF56B735E45}"/>
              </a:ext>
            </a:extLst>
          </p:cNvPr>
          <p:cNvSpPr txBox="1"/>
          <p:nvPr/>
        </p:nvSpPr>
        <p:spPr>
          <a:xfrm>
            <a:off x="125639" y="4553309"/>
            <a:ext cx="1549399" cy="553998"/>
          </a:xfrm>
          <a:prstGeom prst="rect">
            <a:avLst/>
          </a:prstGeom>
          <a:solidFill>
            <a:srgbClr val="EACCD2"/>
          </a:solidFill>
          <a:ln>
            <a:solidFill>
              <a:srgbClr val="EACCD2"/>
            </a:solidFill>
          </a:ln>
          <a:effectLst>
            <a:softEdge rad="31750"/>
          </a:effectLst>
        </p:spPr>
        <p:txBody>
          <a:bodyPr wrap="square" rtlCol="1">
            <a:spAutoFit/>
          </a:bodyPr>
          <a:lstStyle/>
          <a:p>
            <a:pPr algn="ctr"/>
            <a:r>
              <a:rPr lang="he-IL" sz="1500" dirty="0">
                <a:solidFill>
                  <a:schemeClr val="bg1"/>
                </a:solidFill>
              </a:rPr>
              <a:t>פירוט שיחה מבוקשת</a:t>
            </a:r>
          </a:p>
        </p:txBody>
      </p:sp>
      <p:pic>
        <p:nvPicPr>
          <p:cNvPr id="20" name="תמונה 19">
            <a:extLst>
              <a:ext uri="{FF2B5EF4-FFF2-40B4-BE49-F238E27FC236}">
                <a16:creationId xmlns:a16="http://schemas.microsoft.com/office/drawing/2014/main" id="{EEE2AF06-4CDB-46F1-A27A-37DD26FA463F}"/>
              </a:ext>
            </a:extLst>
          </p:cNvPr>
          <p:cNvPicPr>
            <a:picLocks noChangeAspect="1"/>
          </p:cNvPicPr>
          <p:nvPr/>
        </p:nvPicPr>
        <p:blipFill rotWithShape="1">
          <a:blip r:embed="rId5">
            <a:extLst>
              <a:ext uri="{28A0092B-C50C-407E-A947-70E740481C1C}">
                <a14:useLocalDpi xmlns:a14="http://schemas.microsoft.com/office/drawing/2010/main" val="0"/>
              </a:ext>
            </a:extLst>
          </a:blip>
          <a:srcRect b="89515"/>
          <a:stretch/>
        </p:blipFill>
        <p:spPr>
          <a:xfrm>
            <a:off x="63240" y="3175712"/>
            <a:ext cx="4230000" cy="207539"/>
          </a:xfrm>
          <a:prstGeom prst="rect">
            <a:avLst/>
          </a:prstGeom>
        </p:spPr>
      </p:pic>
      <p:sp>
        <p:nvSpPr>
          <p:cNvPr id="21" name="חץ: מעגלי 20">
            <a:extLst>
              <a:ext uri="{FF2B5EF4-FFF2-40B4-BE49-F238E27FC236}">
                <a16:creationId xmlns:a16="http://schemas.microsoft.com/office/drawing/2014/main" id="{66F12B0E-C653-4CA0-886C-D3F6C1B0CC71}"/>
              </a:ext>
            </a:extLst>
          </p:cNvPr>
          <p:cNvSpPr/>
          <p:nvPr/>
        </p:nvSpPr>
        <p:spPr>
          <a:xfrm rot="3223024">
            <a:off x="9884704" y="1537431"/>
            <a:ext cx="978408" cy="978408"/>
          </a:xfrm>
          <a:prstGeom prst="circular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22" name="חץ: מעגלי 21">
            <a:extLst>
              <a:ext uri="{FF2B5EF4-FFF2-40B4-BE49-F238E27FC236}">
                <a16:creationId xmlns:a16="http://schemas.microsoft.com/office/drawing/2014/main" id="{F5ACF028-280E-4488-92E2-A296EB5767B8}"/>
              </a:ext>
            </a:extLst>
          </p:cNvPr>
          <p:cNvSpPr/>
          <p:nvPr/>
        </p:nvSpPr>
        <p:spPr>
          <a:xfrm rot="13482751">
            <a:off x="3873116" y="5159714"/>
            <a:ext cx="978408" cy="978408"/>
          </a:xfrm>
          <a:prstGeom prst="circularArrow">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23" name="חץ: מעגלי 22">
            <a:extLst>
              <a:ext uri="{FF2B5EF4-FFF2-40B4-BE49-F238E27FC236}">
                <a16:creationId xmlns:a16="http://schemas.microsoft.com/office/drawing/2014/main" id="{865DAC18-1F3E-4856-A4D6-16E995ECE5EF}"/>
              </a:ext>
            </a:extLst>
          </p:cNvPr>
          <p:cNvSpPr/>
          <p:nvPr/>
        </p:nvSpPr>
        <p:spPr>
          <a:xfrm rot="20347118">
            <a:off x="4621073" y="326682"/>
            <a:ext cx="978408" cy="978408"/>
          </a:xfrm>
          <a:prstGeom prst="circular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967996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F55684E-E96A-4F4C-BC15-78D329EC80F3}"/>
              </a:ext>
            </a:extLst>
          </p:cNvPr>
          <p:cNvSpPr txBox="1"/>
          <p:nvPr/>
        </p:nvSpPr>
        <p:spPr>
          <a:xfrm>
            <a:off x="3918921" y="306920"/>
            <a:ext cx="5394411" cy="1015663"/>
          </a:xfrm>
          <a:prstGeom prst="rect">
            <a:avLst/>
          </a:prstGeom>
          <a:noFill/>
        </p:spPr>
        <p:txBody>
          <a:bodyPr wrap="square" rtlCol="1">
            <a:spAutoFit/>
          </a:bodyPr>
          <a:lstStyle/>
          <a:p>
            <a:r>
              <a:rPr lang="he-IL" sz="6000" dirty="0">
                <a:solidFill>
                  <a:schemeClr val="bg1"/>
                </a:solidFill>
              </a:rPr>
              <a:t>כניסה אנונימית</a:t>
            </a:r>
          </a:p>
        </p:txBody>
      </p:sp>
      <p:pic>
        <p:nvPicPr>
          <p:cNvPr id="3" name="תמונה 2">
            <a:extLst>
              <a:ext uri="{FF2B5EF4-FFF2-40B4-BE49-F238E27FC236}">
                <a16:creationId xmlns:a16="http://schemas.microsoft.com/office/drawing/2014/main" id="{77B9FFD8-62B1-4774-9317-6648044EC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6223" y="1532466"/>
            <a:ext cx="8944243" cy="4227425"/>
          </a:xfrm>
          <a:prstGeom prst="rect">
            <a:avLst/>
          </a:prstGeom>
        </p:spPr>
      </p:pic>
      <p:sp>
        <p:nvSpPr>
          <p:cNvPr id="4" name="חץ: ימינה 3">
            <a:extLst>
              <a:ext uri="{FF2B5EF4-FFF2-40B4-BE49-F238E27FC236}">
                <a16:creationId xmlns:a16="http://schemas.microsoft.com/office/drawing/2014/main" id="{7DC1A330-9338-44D5-BF67-05569AF4AB97}"/>
              </a:ext>
            </a:extLst>
          </p:cNvPr>
          <p:cNvSpPr/>
          <p:nvPr/>
        </p:nvSpPr>
        <p:spPr>
          <a:xfrm rot="12609836">
            <a:off x="9968833" y="4522247"/>
            <a:ext cx="1926170" cy="484632"/>
          </a:xfrm>
          <a:prstGeom prst="rightArrow">
            <a:avLst>
              <a:gd name="adj1" fmla="val 23095"/>
              <a:gd name="adj2" fmla="val 50000"/>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543210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F55684E-E96A-4F4C-BC15-78D329EC80F3}"/>
              </a:ext>
            </a:extLst>
          </p:cNvPr>
          <p:cNvSpPr txBox="1"/>
          <p:nvPr/>
        </p:nvSpPr>
        <p:spPr>
          <a:xfrm>
            <a:off x="3918921" y="306920"/>
            <a:ext cx="5394411" cy="1015663"/>
          </a:xfrm>
          <a:prstGeom prst="rect">
            <a:avLst/>
          </a:prstGeom>
          <a:noFill/>
        </p:spPr>
        <p:txBody>
          <a:bodyPr wrap="square" rtlCol="1">
            <a:spAutoFit/>
          </a:bodyPr>
          <a:lstStyle/>
          <a:p>
            <a:endParaRPr lang="he-IL" sz="6000" dirty="0">
              <a:solidFill>
                <a:schemeClr val="bg1"/>
              </a:solidFill>
            </a:endParaRPr>
          </a:p>
        </p:txBody>
      </p:sp>
      <p:pic>
        <p:nvPicPr>
          <p:cNvPr id="17" name="תמונה 16">
            <a:extLst>
              <a:ext uri="{FF2B5EF4-FFF2-40B4-BE49-F238E27FC236}">
                <a16:creationId xmlns:a16="http://schemas.microsoft.com/office/drawing/2014/main" id="{C840448A-1CDD-4323-97A9-F2798FA90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9966" y="360135"/>
            <a:ext cx="7604183" cy="6190945"/>
          </a:xfrm>
          <a:prstGeom prst="rect">
            <a:avLst/>
          </a:prstGeom>
        </p:spPr>
      </p:pic>
      <p:sp>
        <p:nvSpPr>
          <p:cNvPr id="19" name="תיבת טקסט 18">
            <a:extLst>
              <a:ext uri="{FF2B5EF4-FFF2-40B4-BE49-F238E27FC236}">
                <a16:creationId xmlns:a16="http://schemas.microsoft.com/office/drawing/2014/main" id="{C7268C30-FE42-47B8-8919-2D501BF0C488}"/>
              </a:ext>
            </a:extLst>
          </p:cNvPr>
          <p:cNvSpPr txBox="1"/>
          <p:nvPr/>
        </p:nvSpPr>
        <p:spPr>
          <a:xfrm>
            <a:off x="1947333" y="1022639"/>
            <a:ext cx="1618366" cy="553998"/>
          </a:xfrm>
          <a:prstGeom prst="rect">
            <a:avLst/>
          </a:prstGeom>
          <a:noFill/>
          <a:ln>
            <a:solidFill>
              <a:srgbClr val="EACCD2"/>
            </a:solidFill>
          </a:ln>
          <a:effectLst>
            <a:softEdge rad="31750"/>
          </a:effectLst>
        </p:spPr>
        <p:txBody>
          <a:bodyPr wrap="square" rtlCol="1">
            <a:spAutoFit/>
          </a:bodyPr>
          <a:lstStyle/>
          <a:p>
            <a:pPr algn="ctr"/>
            <a:r>
              <a:rPr lang="en-US" sz="1500" dirty="0">
                <a:solidFill>
                  <a:schemeClr val="bg1"/>
                </a:solidFill>
              </a:rPr>
              <a:t>Open conversation</a:t>
            </a:r>
            <a:endParaRPr lang="he-IL" sz="1500" dirty="0">
              <a:solidFill>
                <a:schemeClr val="bg1"/>
              </a:solidFill>
            </a:endParaRPr>
          </a:p>
        </p:txBody>
      </p:sp>
      <p:sp>
        <p:nvSpPr>
          <p:cNvPr id="20" name="חץ: ימינה 19">
            <a:extLst>
              <a:ext uri="{FF2B5EF4-FFF2-40B4-BE49-F238E27FC236}">
                <a16:creationId xmlns:a16="http://schemas.microsoft.com/office/drawing/2014/main" id="{027C12B8-123D-44EC-8BCC-6E42553B76E8}"/>
              </a:ext>
            </a:extLst>
          </p:cNvPr>
          <p:cNvSpPr/>
          <p:nvPr/>
        </p:nvSpPr>
        <p:spPr>
          <a:xfrm>
            <a:off x="3543522" y="1022639"/>
            <a:ext cx="871724" cy="333586"/>
          </a:xfrm>
          <a:prstGeom prst="rightArrow">
            <a:avLst>
              <a:gd name="adj1" fmla="val 18553"/>
              <a:gd name="adj2" fmla="val 39518"/>
            </a:avLst>
          </a:prstGeom>
          <a:solidFill>
            <a:srgbClr val="EEF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4E3F949F-B748-4FDF-B5BC-66534E413DF6}"/>
              </a:ext>
            </a:extLst>
          </p:cNvPr>
          <p:cNvSpPr txBox="1"/>
          <p:nvPr/>
        </p:nvSpPr>
        <p:spPr>
          <a:xfrm>
            <a:off x="2459625" y="2947994"/>
            <a:ext cx="1303909" cy="553998"/>
          </a:xfrm>
          <a:prstGeom prst="rect">
            <a:avLst/>
          </a:prstGeom>
          <a:noFill/>
          <a:ln>
            <a:solidFill>
              <a:srgbClr val="EACCD2"/>
            </a:solidFill>
          </a:ln>
          <a:effectLst>
            <a:softEdge rad="31750"/>
          </a:effectLst>
        </p:spPr>
        <p:txBody>
          <a:bodyPr wrap="square" rtlCol="1">
            <a:spAutoFit/>
          </a:bodyPr>
          <a:lstStyle/>
          <a:p>
            <a:pPr algn="ctr"/>
            <a:r>
              <a:rPr lang="en-US" sz="1500" dirty="0">
                <a:solidFill>
                  <a:schemeClr val="bg1"/>
                </a:solidFill>
              </a:rPr>
              <a:t>New message</a:t>
            </a:r>
            <a:endParaRPr lang="he-IL" sz="1500" dirty="0">
              <a:solidFill>
                <a:schemeClr val="bg1"/>
              </a:solidFill>
            </a:endParaRPr>
          </a:p>
        </p:txBody>
      </p:sp>
      <p:sp>
        <p:nvSpPr>
          <p:cNvPr id="7" name="חץ: ימינה 6">
            <a:extLst>
              <a:ext uri="{FF2B5EF4-FFF2-40B4-BE49-F238E27FC236}">
                <a16:creationId xmlns:a16="http://schemas.microsoft.com/office/drawing/2014/main" id="{097CC0E0-2289-48DB-91D4-DE1B5E1AEDEB}"/>
              </a:ext>
            </a:extLst>
          </p:cNvPr>
          <p:cNvSpPr/>
          <p:nvPr/>
        </p:nvSpPr>
        <p:spPr>
          <a:xfrm>
            <a:off x="3763534" y="3058200"/>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תיבת טקסט 8">
            <a:extLst>
              <a:ext uri="{FF2B5EF4-FFF2-40B4-BE49-F238E27FC236}">
                <a16:creationId xmlns:a16="http://schemas.microsoft.com/office/drawing/2014/main" id="{59DF9338-E49E-490E-8F0D-FDC8CAF3740D}"/>
              </a:ext>
            </a:extLst>
          </p:cNvPr>
          <p:cNvSpPr txBox="1"/>
          <p:nvPr/>
        </p:nvSpPr>
        <p:spPr>
          <a:xfrm>
            <a:off x="2261790" y="5835361"/>
            <a:ext cx="1303909" cy="323165"/>
          </a:xfrm>
          <a:prstGeom prst="rect">
            <a:avLst/>
          </a:prstGeom>
          <a:noFill/>
          <a:ln>
            <a:solidFill>
              <a:srgbClr val="EACCD2"/>
            </a:solidFill>
          </a:ln>
          <a:effectLst>
            <a:softEdge rad="31750"/>
          </a:effectLst>
        </p:spPr>
        <p:txBody>
          <a:bodyPr wrap="square" rtlCol="1">
            <a:spAutoFit/>
          </a:bodyPr>
          <a:lstStyle/>
          <a:p>
            <a:pPr algn="ctr"/>
            <a:r>
              <a:rPr lang="en-US" sz="1500" dirty="0">
                <a:solidFill>
                  <a:schemeClr val="bg1"/>
                </a:solidFill>
              </a:rPr>
              <a:t>Close chat</a:t>
            </a:r>
            <a:endParaRPr lang="he-IL" sz="1500" dirty="0">
              <a:solidFill>
                <a:schemeClr val="bg1"/>
              </a:solidFill>
            </a:endParaRPr>
          </a:p>
        </p:txBody>
      </p:sp>
      <p:sp>
        <p:nvSpPr>
          <p:cNvPr id="10" name="חץ: ימינה 9">
            <a:extLst>
              <a:ext uri="{FF2B5EF4-FFF2-40B4-BE49-F238E27FC236}">
                <a16:creationId xmlns:a16="http://schemas.microsoft.com/office/drawing/2014/main" id="{F53A2AF9-DA5E-4B75-B6E8-A33AAC8CB905}"/>
              </a:ext>
            </a:extLst>
          </p:cNvPr>
          <p:cNvSpPr/>
          <p:nvPr/>
        </p:nvSpPr>
        <p:spPr>
          <a:xfrm>
            <a:off x="3616269" y="5824940"/>
            <a:ext cx="871724" cy="333586"/>
          </a:xfrm>
          <a:prstGeom prst="rightArrow">
            <a:avLst>
              <a:gd name="adj1" fmla="val 18553"/>
              <a:gd name="adj2" fmla="val 39518"/>
            </a:avLst>
          </a:prstGeom>
          <a:solidFill>
            <a:srgbClr val="EACCD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00861082"/>
      </p:ext>
    </p:extLst>
  </p:cSld>
  <p:clrMapOvr>
    <a:masterClrMapping/>
  </p:clrMapOvr>
</p:sld>
</file>

<file path=ppt/theme/theme1.xml><?xml version="1.0" encoding="utf-8"?>
<a:theme xmlns:a="http://schemas.openxmlformats.org/drawingml/2006/main" name="ראוי לציטוט">
  <a:themeElements>
    <a:clrScheme name="התאמה אישית 9">
      <a:dk1>
        <a:sysClr val="windowText" lastClr="000000"/>
      </a:dk1>
      <a:lt1>
        <a:sysClr val="window" lastClr="FFFFFF"/>
      </a:lt1>
      <a:dk2>
        <a:srgbClr val="EEFCE4"/>
      </a:dk2>
      <a:lt2>
        <a:srgbClr val="636363"/>
      </a:lt2>
      <a:accent1>
        <a:srgbClr val="FDE7EB"/>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ראוי לציטוט">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מילוי מלא עדין">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ACECE1E4-636E-48DB-87ED-4A76DC93378F}"/>
    </a:ext>
  </a:extLst>
</a:theme>
</file>

<file path=docProps/app.xml><?xml version="1.0" encoding="utf-8"?>
<Properties xmlns="http://schemas.openxmlformats.org/officeDocument/2006/extended-properties" xmlns:vt="http://schemas.openxmlformats.org/officeDocument/2006/docPropsVTypes">
  <Template>TM04033937[[fn=שובל אדים]]</Template>
  <TotalTime>228</TotalTime>
  <Words>191</Words>
  <Application>Microsoft Office PowerPoint</Application>
  <PresentationFormat>מסך רחב</PresentationFormat>
  <Paragraphs>44</Paragraphs>
  <Slides>12</Slides>
  <Notes>0</Notes>
  <HiddenSlides>0</HiddenSlides>
  <MMClips>1</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12</vt:i4>
      </vt:variant>
    </vt:vector>
  </HeadingPairs>
  <TitlesOfParts>
    <vt:vector size="17" baseType="lpstr">
      <vt:lpstr>Arial</vt:lpstr>
      <vt:lpstr>Century Gothic</vt:lpstr>
      <vt:lpstr>Segoe UI Light</vt:lpstr>
      <vt:lpstr>Wingdings 2</vt:lpstr>
      <vt:lpstr>ראוי לציטוט</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student</dc:creator>
  <cp:lastModifiedBy>student</cp:lastModifiedBy>
  <cp:revision>27</cp:revision>
  <dcterms:created xsi:type="dcterms:W3CDTF">2025-11-18T14:25:24Z</dcterms:created>
  <dcterms:modified xsi:type="dcterms:W3CDTF">2025-11-20T15:11:41Z</dcterms:modified>
</cp:coreProperties>
</file>